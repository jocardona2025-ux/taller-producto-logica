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1980307"/>
            <a:ext cx="3486150" cy="2857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75863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037457"/>
            <a:ext cx="3276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 DE INGENIERÍA DE SOFTWARE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494657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Plantilla Universal de Análisis Lógico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786187"/>
            <a:ext cx="723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Guía paso a paso para descomponer cualquier problema en lenguaje natural antes de escribir una sola línea de código.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43000" y="4677667"/>
            <a:ext cx="6310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Haz clic en cualquier texto de estas diapositivas para escribir sobre él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09600" y="3228975"/>
            <a:ext cx="3505200" cy="1381125"/>
          </a:xfrm>
          <a:prstGeom prst="roundRect">
            <a:avLst>
              <a:gd fmla="val 11034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343400" y="3228975"/>
            <a:ext cx="3505200" cy="1381125"/>
          </a:xfrm>
          <a:prstGeom prst="roundRect">
            <a:avLst>
              <a:gd fmla="val 11034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077200" y="3228975"/>
            <a:ext cx="3505200" cy="1381125"/>
          </a:xfrm>
          <a:prstGeom prst="roundRect">
            <a:avLst>
              <a:gd fmla="val 11034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" y="35194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35194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2950" y="351948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1: Definición del Problema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09600" y="91440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 el objetivo principal y la información necesaria para interactuar con el usuario.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95350" y="3867150"/>
            <a:ext cx="302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resultado final o solución debe conseguir el programa?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calcular facturas sobre consumo por apartamento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629150" y="3867150"/>
            <a:ext cx="302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lus Jakarta Sans"/>
              <a:buChar char="-"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metros cubicos consumido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lus Jakarta Sans"/>
              <a:buChar char="-"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cargo fijo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Plus Jakarta Sans"/>
              <a:buChar char="-"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# apartamento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362950" y="3867150"/>
            <a:ext cx="302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consumo total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recargo si aplica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reporte general de consumo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238250" y="3514725"/>
            <a:ext cx="20502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Pregunta Central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972050" y="3514725"/>
            <a:ext cx="20502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Entradas (Datos)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734425" y="3514725"/>
            <a:ext cx="24628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Salidas (Resultados)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609600" y="3148012"/>
            <a:ext cx="5334000" cy="1543050"/>
          </a:xfrm>
          <a:prstGeom prst="roundRect">
            <a:avLst>
              <a:gd fmla="val 740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09600" y="3148012"/>
            <a:ext cx="57150" cy="1543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248400" y="3148012"/>
            <a:ext cx="57150" cy="1543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34528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2: Filtro de Información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09600" y="91440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Separa lo que realmente importa para la lógica de los adornos del texto.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71550" y="3871912"/>
            <a:ext cx="47625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Datos numéricos, fórmulas, precios, listas de opciones o límites que cambian el cálculo directamente.</a:t>
            </a:r>
            <a:endParaRPr b="0" i="0" sz="13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-cantidad consumida</a:t>
            </a:r>
            <a:endParaRPr sz="13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-consumo al mes m3*valor por metro cubico</a:t>
            </a:r>
            <a:endParaRPr sz="13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recargo= i*0.10</a:t>
            </a:r>
            <a:endParaRPr sz="13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352550" y="3452812"/>
            <a:ext cx="298787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Información Relevante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609600" y="3019425"/>
            <a:ext cx="3505200" cy="1800225"/>
          </a:xfrm>
          <a:prstGeom prst="roundRect">
            <a:avLst>
              <a:gd fmla="val 846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343400" y="3019425"/>
            <a:ext cx="3505200" cy="1800225"/>
          </a:xfrm>
          <a:prstGeom prst="roundRect">
            <a:avLst>
              <a:gd fmla="val 846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077200" y="3019425"/>
            <a:ext cx="3505200" cy="1800225"/>
          </a:xfrm>
          <a:prstGeom prst="roundRect">
            <a:avLst>
              <a:gd fmla="val 846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14400" y="3324225"/>
            <a:ext cx="800100" cy="247650"/>
          </a:xfrm>
          <a:prstGeom prst="roundRect">
            <a:avLst>
              <a:gd fmla="val 2307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648200" y="3324225"/>
            <a:ext cx="819150" cy="247650"/>
          </a:xfrm>
          <a:prstGeom prst="roundRect">
            <a:avLst>
              <a:gd fmla="val 2307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382000" y="3324225"/>
            <a:ext cx="828675" cy="247650"/>
          </a:xfrm>
          <a:prstGeom prst="roundRect">
            <a:avLst>
              <a:gd fmla="val 2307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3: Subproblemas (Cajitas / Funciones)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91440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 el problema grande en tareas independientes más pequeñas.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28700" y="33623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 1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3762375"/>
            <a:ext cx="3800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Subproblema 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4114800"/>
            <a:ext cx="299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</a:rPr>
              <a:t>mostrarMenu()</a:t>
            </a:r>
            <a:r>
              <a:rPr lang="en-US" sz="1100">
                <a:solidFill>
                  <a:schemeClr val="dk1"/>
                </a:solidFill>
              </a:rPr>
              <a:t>  La cajita que dibuja el menú en pantalla. 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62500" y="3362325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 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48200" y="3762375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Subproblema B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48200" y="4114800"/>
            <a:ext cx="299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 </a:t>
            </a:r>
            <a:r>
              <a:rPr lang="en-US" sz="1100">
                <a:solidFill>
                  <a:srgbClr val="188038"/>
                </a:solidFill>
              </a:rPr>
              <a:t>registrarConsumo(double[] consumos)</a:t>
            </a:r>
            <a:r>
              <a:rPr lang="en-US" sz="1100">
                <a:solidFill>
                  <a:schemeClr val="dk1"/>
                </a:solidFill>
              </a:rPr>
              <a:t> $\ri La cajita que pide el apartamento, valida y guarda el valor. </a:t>
            </a:r>
            <a:r>
              <a:rPr lang="en-US" sz="120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metros cubicos segun consumo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96300" y="3362325"/>
            <a:ext cx="695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 3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82000" y="3762375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Subproblema C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077200" y="4191000"/>
            <a:ext cx="299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</a:rPr>
              <a:t>consultarFactura(double[] consumos)</a:t>
            </a:r>
            <a:r>
              <a:rPr lang="en-US" sz="1100">
                <a:solidFill>
                  <a:schemeClr val="dk1"/>
                </a:solidFill>
              </a:rPr>
              <a:t> La cajita que busca un apartamento y muestra su factura 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38200" y="4996425"/>
            <a:ext cx="3505200" cy="1800300"/>
          </a:xfrm>
          <a:prstGeom prst="roundRect">
            <a:avLst>
              <a:gd fmla="val 846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Subproblema D</a:t>
            </a:r>
            <a:endParaRPr b="1" sz="150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188038"/>
                </a:solidFill>
              </a:rPr>
              <a:t>imprimirFactura(int apartamento, double consumo)</a:t>
            </a:r>
            <a:r>
              <a:rPr lang="en-US" sz="1100">
                <a:solidFill>
                  <a:schemeClr val="dk1"/>
                </a:solidFill>
              </a:rPr>
              <a:t> La cajita encargada específicamente de calcular el cargo fijo, los rangos de precios, el recargo del 10% si pasa de 25 $m^3$ y mostrar la alerta. </a:t>
            </a:r>
            <a:endParaRPr b="1" sz="150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648200" y="4952325"/>
            <a:ext cx="3505200" cy="1800300"/>
          </a:xfrm>
          <a:prstGeom prst="roundRect">
            <a:avLst>
              <a:gd fmla="val 846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Subproblema E</a:t>
            </a:r>
            <a:endParaRPr b="1" sz="150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188038"/>
                </a:solidFill>
              </a:rPr>
              <a:t>generarReporte(double[] consumos)</a:t>
            </a:r>
            <a:r>
              <a:rPr lang="en-US" sz="1100">
                <a:solidFill>
                  <a:schemeClr val="dk1"/>
                </a:solidFill>
              </a:rPr>
              <a:t>  La cajita que recorre el arreglo para sacar totales, promedios, el mayor consumidor y cuántos faltaron por registra </a:t>
            </a:r>
            <a:endParaRPr b="1" sz="150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609600" y="3138487"/>
            <a:ext cx="5334000" cy="1562100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248400" y="3138487"/>
            <a:ext cx="5334000" cy="1562100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4528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34528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4: Reglas y Validaciones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09600" y="91440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 la seguridad del programa y las condiciones de decisión.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23925" y="3871912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</a:t>
            </a: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mientras  apartamentos sea &lt;1 o &gt;6  ingrese un numero valido  del 1 al 6 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mientras consumo sea mayor a &gt;0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562725" y="3871912"/>
            <a:ext cx="4800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consumo es  &lt;= 10 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else consumo &gt;10 o &lt;=20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else consumo &gt;20  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else consumo &gt;25 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304925" y="3452812"/>
            <a:ext cx="26753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Validaciones (while)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915150" y="3452812"/>
            <a:ext cx="367545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Reglas de Negocio (if / else)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609600" y="3124200"/>
            <a:ext cx="3505200" cy="1514475"/>
          </a:xfrm>
          <a:prstGeom prst="roundRect">
            <a:avLst>
              <a:gd fmla="val 75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343400" y="3124200"/>
            <a:ext cx="3505200" cy="1514475"/>
          </a:xfrm>
          <a:prstGeom prst="roundRect">
            <a:avLst>
              <a:gd fmla="val 75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077200" y="3124200"/>
            <a:ext cx="3505200" cy="1514400"/>
          </a:xfrm>
          <a:prstGeom prst="roundRect">
            <a:avLst>
              <a:gd fmla="val 75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5: Pseudocódigo en Español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09600" y="91440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Escribe la secuencia lógica exacta antes de codificar en Java.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38200" y="3352800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A. Menú Principal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38200" y="3724275"/>
            <a:ext cx="3143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Mostrar menú con do-while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1,registrar consumo de apartamentos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2.consultar factura de un apartamento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ver reporte general del consumo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2. Leer opción seleccionada.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3. Evaluar número con switch.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1.rigistrar consumo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consultar factura de un apartamento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ver reporte general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imprimir factura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cerrar gracias por usar el sistema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4572000" y="3352800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B. Registro de Datos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572000" y="3724275"/>
            <a:ext cx="3143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Pedir valor por teclado.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1.ingrese el numero de apartamento y su consumo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2. Validar con ciclo while.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validar si el apartamento y el consumo cumplen los requisitos , de 1 a 6 y mayor a 0 respectivamente.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3. Guardar en posición del arreglo.</a:t>
            </a:r>
            <a:endParaRPr b="0" i="0" sz="120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guardar valores en arreglo segun corresponda y iniciar de nuevo la secuencia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8305800" y="3352800"/>
            <a:ext cx="388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C. Consulta y Totales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305800" y="3724275"/>
            <a:ext cx="3143400" cy="4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Leer valor de la casilla requerida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Consumo total del conjunto.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Promedio de consumo (solo de los apartamentos registrados, es decir, los que tienen un valor mayor a 0).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Apartamento con mayor consumo.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apartamentos sin registro (los que quedaron en $0$).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apartamentos con consumo excesivo ($&gt;25.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246221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3689449" y="3224212"/>
            <a:ext cx="481310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¡Análisis Completo!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928812" y="3862387"/>
            <a:ext cx="8334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vez completados estos 5 pasos en la plantilla, el código en Java se escribirá de forma rápida, limpia y sin confusión.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